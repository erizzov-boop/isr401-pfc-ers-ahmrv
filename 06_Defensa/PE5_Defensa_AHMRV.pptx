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Después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M1a</c:v>
                  </c:pt>
                  <c:pt idx="1">
                    <c:v>M1b</c:v>
                  </c:pt>
                  <c:pt idx="2">
                    <c:v>M1c</c:v>
                  </c:pt>
                  <c:pt idx="3">
                    <c:v>M2</c:v>
                  </c:pt>
                  <c:pt idx="4">
                    <c:v>M3</c:v>
                  </c:pt>
                  <c:pt idx="5">
                    <c:v>M4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C4D3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M1a</c:v>
                  </c:pt>
                  <c:pt idx="1">
                    <c:v>M1b</c:v>
                  </c:pt>
                  <c:pt idx="2">
                    <c:v>M1c</c:v>
                  </c:pt>
                  <c:pt idx="3">
                    <c:v>M2</c:v>
                  </c:pt>
                  <c:pt idx="4">
                    <c:v>M3</c:v>
                  </c:pt>
                  <c:pt idx="5">
                    <c:v>M4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98.4</c:v>
                </c:pt>
                <c:pt idx="1">
                  <c:v>55.6</c:v>
                </c:pt>
                <c:pt idx="2">
                  <c:v>75</c:v>
                </c:pt>
                <c:pt idx="3">
                  <c:v>99</c:v>
                </c:pt>
                <c:pt idx="4">
                  <c:v>39.3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1E8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— Allan. Presentar el equipo y el sistema en 30 segundos. No leer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— Allan. Los cuatro problemas salen de entrevistas reales, no de suposiciones. Citar EV-13: el cálculo manual consume una jornada semanal.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— Allan. La distinción entre clase de usuario y parte interesada importa: fue el defecto DR-05 y falseaba el denominador de M1c.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— Denisses. Idea central: la progresión no es acumulativa por volumen sino por verificabilidad.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— Denisses. Si preguntan por un requisito clave: RF-28, registro de avance, del que dependen liquidación, desempeño y rectificación.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— Denisses. Ningún requisito clave se justifica con una opinión: todos citan un ID de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— Josthyn. Si preguntan por el diagrama de clases: es conceptual, no son tablas. Racimo y lote son entidades del dominio.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— Josthyn. Pregunta 14 del banco: ninguna RFC rechazada, y explicar por qué eso no es laxitud. Artefacto: acta del CCB en 03_CCB/.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— Anderson. Si preguntan por la diferencia 67,1 vs 58,5: el denominador no contaba los RNF porque no se sabía que faltaban del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— Anderson. M3 pasó de 39,3 a 100 sin cambiar ningún umbral: cambió la forma de enunciar la condición, no su contenido. Artefacto: AnexoA_auditoria_calidad.xlsx.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— Francisco. Si preguntan por sesgo: la exclusión de la cuadrilla es una decisión declarada, no un olvido. La equidad se mide después, no se asume.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— Francisco. Esta diapositiva anticipa la mitad de las preguntas del tribunal. Reconocer límites con criterio técnico es N4 en C5.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— Edson. Las cuatro lecciones salen de la retrospectiva de la §9, no son genéricas.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— Edson. Nombrar responsable de cada acción es lo que distingue una retrospectiva de una lista de buenas intenciones.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— Edson. Una conclusión que podría aparecer en cualquier proyecto no es una conclusión. Estas cinco solo valen para 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— Edson. Esta diapositiva se deja proyectada durante las preguntas: sirve de índice para señalar el artefacto de cada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permanecen de pie. Cualquiera responde cualquier pregunta: es el criterio que aplica el tribunal. Ante una pregunta cuya respuesta no se sabe, decirlo y señalar dónde se buscaría.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Mantenimiento de Palma Africana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5120640" cy="402336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técnica · Unidad 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AHMRV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Villafuerte Rosero · Huilcapi León · Rizzo Vélez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Macías Herrera · Arboleda Yanza · Alcívar Vélez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Requerimientos (ISR-401) · 4.º nivel · Paralelo "A"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Gleiston Guerrero Ulloa, PhD · UTEQ · 2026–2027 PPA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github.com/erizzov-boop/ISR401-PFC-ERS-AHMRV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hacienda de 100 hectáreas en El Empalme decide todo sobre papel y memoria.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20824"/>
            <a:ext cx="310896" cy="310896"/>
          </a:xfrm>
          <a:prstGeom prst="ellipse">
            <a:avLst/>
          </a:prstGeom>
          <a:solidFill>
            <a:srgbClr val="A43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1984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tardía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459736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asesoría técnica visita cada quince días. Una plaga detectada tarde ya se propagó.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45352" y="2020824"/>
            <a:ext cx="310896" cy="310896"/>
          </a:xfrm>
          <a:prstGeom prst="ellipse">
            <a:avLst/>
          </a:prstGeom>
          <a:solidFill>
            <a:srgbClr val="A43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5976" y="1984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imprecisa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5352" y="2459736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censo de flores se cuenta a ojo; a partir de cierta altura la palma no deja ver la inflorescencia.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169664"/>
            <a:ext cx="310896" cy="310896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4133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manual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4608576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semanal de remuneración por avance consume una jornada completa de trabajo administrativo.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4169664"/>
            <a:ext cx="310896" cy="310896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4133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5352" y="4608576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de qué operario polinizó cada lote, de modo que la calidad del racimo no se puede atribuir.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EV-02, EV-04, EV-12 y EV-13 del trabajo de campo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y quiénes lo usan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 registra la labor de campo, diagnostica por imagen y liquida el avance semanal.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56816"/>
            <a:ext cx="274320" cy="2743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 la semana, aprueba la liquidación y consulta los reportes de estado del cultivo.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73736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956816"/>
            <a:ext cx="274320" cy="2743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024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polinización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120" y="235915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censo de flores, asigna cuadrillas y evalúa el desempeño de cada polinizador.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73736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956816"/>
            <a:ext cx="274320" cy="2743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 de campo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01000" y="235915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su avance por unidad de labor y reporta incidencias con evidencia fotográfica.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96849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fitosanitario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437083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monitoreo, consulta el diagnóstico asistido y ordena el control correspondiente.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0520" y="374904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96849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técnico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0" y="437083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histórico y valida las recomendaciones que el sistema emite sobre nutrición y plagas.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374904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96849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extractora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01000" y="437083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estimación de cosecha y devuelve la calificación de calidad de la fruta entregada.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clases de usuario · La planta extractora es actor externo, no clase de usuario del sistema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proceso, de la entrevista a la métrica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Elicitación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evidencias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23744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61488" y="182880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61488" y="2487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61488" y="2926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RF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RNF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974336" y="182880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974336" y="2487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74336" y="2926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 SD y SR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187184" y="182880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187184" y="2487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87184" y="2926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defectos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RFC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62288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400032" y="182880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00032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PE5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400032" y="2487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00032" y="2926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requisitos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métricas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no añade documento: añade una propiedad que antes no se podía comprobar.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V no produjo un ERS mejor. Produjo el instrumento capaz de decir si lo era.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ERS en cifras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691640" cy="1691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9481"/>
            <a:ext cx="1691640" cy="575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64638"/>
            <a:ext cx="214884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1417320"/>
            <a:ext cx="1691640" cy="1691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789481"/>
            <a:ext cx="1691640" cy="575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364638"/>
            <a:ext cx="214884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1691640" cy="169164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789481"/>
            <a:ext cx="1691640" cy="575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364638"/>
            <a:ext cx="214884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61120" y="1417320"/>
            <a:ext cx="1691640" cy="1691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789481"/>
            <a:ext cx="1691640" cy="575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32520" y="2364638"/>
            <a:ext cx="214884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29148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bloques funcionales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4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06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Estructura productiva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42062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4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4206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Planificación de labores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42062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4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206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Registro operativo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41080" y="42062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4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06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Polinización asistida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7316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3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Diagnóstico con IA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477316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4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4773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Calidad de la fruta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477316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4ED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47731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Reportes y estimación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Must · 16 Should · 2 Could — prioridad MoSCoW justificada requisito a requisito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requisitos sostienen la propuesta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36192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3619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4264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plaga por imagen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83080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EV-02: la asesoría visita cada quince días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4996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ventana de detección de dos semanas a inmediata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31136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EEF3F0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688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RF-22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fruta verde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83080" y="2670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EV-04: la extractora penaliza desde el 3 %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432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la decisión del juicio visual a una medición previa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63824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01568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0156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RF-28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avance por labor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783080" y="3602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EV-05 y EV-06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36499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la que dependen liquidación, desempeño y reportes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9651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EEF3F0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334256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33425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RF-35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4224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delegado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783080" y="4535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EV-12: el 11,3 % no tiene teléfono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él, parte del personal queda fuera del sistema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266944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266944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RF-37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5157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semanal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783080" y="54681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EV-13: el cálculo manual consume una jornada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52303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mayor frecuencia y mayor costo administrativo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0807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clave cita la evidencia de campo que lo originó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modelos y por qué existen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4672" y="19842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842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especificados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ocho últimos, CU-11 a CU-18, se produjeron en esta unidad: la métrica los detectó ausentes.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4173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del dominio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16552" y="19842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9842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clases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16552" y="240487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del dominio, no diseño de base de datos: racimo, lote, labor, censo.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14173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28432" y="19842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19842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entidades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240487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racimo y la alerta tienen ciclo de vida modelado. Exigirlo al resto obligaría a inventar.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4672" y="42245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2245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procesos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464515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por bloque funcional. Se produjeron porque M4 no podía calcularse sin el eslabón de proceso.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60520" y="3657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 organizacional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16552" y="42245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42245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y SR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16552" y="464515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entre administrador, jefe de polinización y operario antes de especificar nada.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0" y="3657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028432" y="42245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42245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CU-01, 03, 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28432" y="464515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casos de uso con interacción no trivial entre actor, sistema y componente de IA.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vacíos se declaran en lugar de rellenarse: es lo que hace legible el modelo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inspección formal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tipo Fagan sobre las secciones 1 a 7 · 63 páginas efectivas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554480" cy="1554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33626"/>
            <a:ext cx="1554480" cy="528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562149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691640"/>
            <a:ext cx="1554480" cy="1554480"/>
          </a:xfrm>
          <a:prstGeom prst="ellipse">
            <a:avLst/>
          </a:prstGeom>
          <a:solidFill>
            <a:srgbClr val="A4303F"/>
          </a:solidFill>
          <a:ln w="12700">
            <a:solidFill>
              <a:srgbClr val="A43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033626"/>
            <a:ext cx="1554480" cy="528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2562149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1554480" cy="155448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33626"/>
            <a:ext cx="1554480" cy="528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9120" y="2562149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37960" y="1691640"/>
            <a:ext cx="1554480" cy="1554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033626"/>
            <a:ext cx="1554480" cy="528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9360" y="2562149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página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920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95360" y="24505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críticos y mayores,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758184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37216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Change Control Board no rechazó ninguna RFC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197096"/>
            <a:ext cx="4608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solicitudes reparaban defectos cuya corrección añadía alcance. Rechazarlas habría dejado abierto un defecto crítico o mayor. Sí se rechazó una alternativa dentro de RFC-03: diferir todo a la Entrega 4.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52044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3758184"/>
            <a:ext cx="310896" cy="310896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37216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RFC-03 empeoró la cobertura del MVP y se aprobó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91072" y="4197096"/>
            <a:ext cx="4608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cobertura bajó del 38,1 % al 33,3 % porque los tres requisitos de la LOPDP ampliaron el denominador de Must. Un CCB que solo aprueba lo que mejora sus indicadores administra apariencia, no gobierna alcance.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extremo a extremo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› Requisito › Caso de uso › Clase › Proceso › Estado › Criterio BDD › Caso de prueba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645920" cy="16459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3742"/>
            <a:ext cx="164592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613355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1645920" cy="16459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053742"/>
            <a:ext cx="164592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88920" y="2613355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1691640"/>
            <a:ext cx="1645920" cy="16459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053742"/>
            <a:ext cx="164592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92040" y="2613355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huérfanos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0" y="1691640"/>
            <a:ext cx="3886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71232" y="1929384"/>
            <a:ext cx="310896" cy="310896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856" y="18928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vacíos declarados, no rellenados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71232" y="2368296"/>
            <a:ext cx="3374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ausente en tres requisitos no Must · Restricciones de diseño sin criterio BDD · RNF sin proceso propio.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el tablero CASE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4434840" cy="1572768"/>
          </a:xfrm>
          <a:prstGeom prst="roundRect">
            <a:avLst>
              <a:gd name="adj" fmla="val 4651"/>
            </a:avLst>
          </a:prstGeom>
          <a:solidFill>
            <a:srgbClr val="E9E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233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estado, dos lecturas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454456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D68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6360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67,1 %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21792" y="50566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PE4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62072" y="454456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A430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2072" y="46360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58,5 %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770632" y="50566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sobre 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completo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4754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8C45"/>
                </a:solidFill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394960" y="454456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46360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394960" y="5056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unidad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18120" y="4224528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que medía la desincronización estaba él mismo mal calibrado: su denominador ignoraba los 19 RNF y los 12 RNF-IA, que nunca se cargaron al tablero. El punto de partida era peor que el declarado.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Respaldo: matriz_e2e.xlsx y backlog_export.csv · 175 elementos verificados en el tablero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métricas sobre conteos reproducibles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07008"/>
          <a:ext cx="6126480" cy="3401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2686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M1b 55,6 › 100 · M1c 75,0 › 100 · M3 39,3 › 100 — los tres saltos mayores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949440" y="123444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05472" y="1472184"/>
            <a:ext cx="310896" cy="310896"/>
          </a:xfrm>
          <a:prstGeom prst="ellipse">
            <a:avLst/>
          </a:prstGeom>
          <a:solidFill>
            <a:srgbClr val="A43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26096" y="14356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Corrección = 0,11 · no cumple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05472" y="1911096"/>
            <a:ext cx="3739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defectos residuales sobre 61 requisitos, frente al 0,05 de referencia. Se reporta sin corregir: mide la eficacia de la inspección anterior, no el estado actual del 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49440" y="315468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05472" y="3392424"/>
            <a:ext cx="310896" cy="310896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26096" y="3355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se maquilla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05472" y="3831336"/>
            <a:ext cx="3739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siete están reparados, pero repararlos no altera el numerador. Bajar la cifra exigiría declarar una re-inspección que no se hizo. Un 0,00 habría sido la señal sospechosa.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120640"/>
            <a:ext cx="10652760" cy="868680"/>
          </a:xfrm>
          <a:prstGeom prst="roundRect">
            <a:avLst>
              <a:gd name="adj" fmla="val 8421"/>
            </a:avLst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257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3,70 / 4,00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00400" y="52852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ponderada. Todos los conteos base salen de análisis programático de las fuentes LaTeX: el número de RF es el número de macros al inicio de línea. Cualquier evaluador repite el conteo.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componentes de inteligencia artificial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472184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143560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IA-01 · Clasificador fitosanitario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911096"/>
            <a:ext cx="4745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fotografías de campo en clases de afectación. Exactitud ≥ 85 % y exhaustividad ≥ 80 % sobre la clase crítica, verificadas con matriz de confusión sobre un conjunto etiquetado independiente de al menos 200 imágenes.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a RF-07, RF-08, RF-09 y RF-12.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23444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  <a:effectLst>
            <a:outerShdw sx="100000" sy="100000" kx="0" ky="0" algn="bl" rotWithShape="0" blurRad="76200" dist="25400" dir="5400000">
              <a:srgbClr val="B8C4B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472184"/>
            <a:ext cx="310896" cy="310896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0256" y="143560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IA-02 · Estimador de madurez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99632" y="1911096"/>
            <a:ext cx="4745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racimo por desprendimiento de fruto y estima el porcentaje de fruta verde antes del despacho.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cuadrilla se excluye de las variables de entrada: su capacidad predictiva sería el mecanismo del sesgo. La equidad se mide a posteriori.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a RF-21, RF-22, RF-24 y RF-25.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3794760"/>
            <a:ext cx="1463040" cy="14630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116629"/>
            <a:ext cx="1463040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0120" y="461406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0" y="3794760"/>
            <a:ext cx="1463040" cy="14630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4116629"/>
            <a:ext cx="1463040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11880" y="461406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92240" y="3794760"/>
            <a:ext cx="1463040" cy="1463040"/>
          </a:xfrm>
          <a:prstGeom prst="ellipse">
            <a:avLst/>
          </a:prstGeom>
          <a:solidFill>
            <a:srgbClr val="A4303F"/>
          </a:solidFill>
          <a:ln w="12700">
            <a:solidFill>
              <a:srgbClr val="A430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16629"/>
            <a:ext cx="1463040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461406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2024/1689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0" y="3794760"/>
            <a:ext cx="1463040" cy="14630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4116629"/>
            <a:ext cx="1463040" cy="497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15400" y="461406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trazados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y RNF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riesgo alto conforme al Reglamento (UE) 2024/1689: supervisión humana obligatoria,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decisiones, explicabilidad exigible y plan de monitoreo de deriva declarado en la §9 del 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SIMPA no hace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el límite es parte de la especificación, no una disculpa.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1109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8653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sustituye al técnico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35000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es asistido: la decisión de aplicar un control es siempre humana y queda registrada.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8264" y="191109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024" y="18653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 sin conectividad total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98264" y="235000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RD-01 asume registro móvil; el 11,3 % sin teléfono se cubre con registro delegado (RF-35), no con supuestos.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169164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91109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8653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discrimina palmas contiguas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10144" y="235000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limitación L-12 declara que sin marco de siembra la precisión GPS no permite afirmarlo.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401421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39684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gestiona nómina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" y="445312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liquidación semanal por avance; el pago y su contabilización quedan fuera del alcance.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37947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8264" y="401421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39684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cubre otras haciendas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98264" y="445312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1 se acota a una unidad productiva. La expansión multifinca se declara como trabajo futuro.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37947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4014216"/>
            <a:ext cx="274320" cy="27432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39684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corrige M6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10144" y="445312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métrica incumplida se reporta tal cual, con acción correctiva de proceso y no de producto.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aprendimos midiendo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499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antes de corregir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84708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auditoría detectó en una división lo que tres lecturas del documento no vieron: faltaban ocho casos de uso enteros.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688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denominador es la decisión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03580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0,990 sobre 1.830 pares y uno sobre 210 no son la misma afirmación. Declarar el criterio es lo que hace interpretable la métrica.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877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representaciones divergen solas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2245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y tablero se separan si nada los reconcilia. La misma causa produjo once de los treinta y tres defectos de consistencia.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64608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A43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5065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métrica cómoda no mide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4132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se pudo haber maquillado y se reportó tal cual. Un instrumento que solo confirma lo que se espera no es un instrumento.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Start–Stop–Continue: doce elementos, cada uno anclado en un hecho verificable y con responsable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haríamos distinto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27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la lista de inspección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de los siete defectos residuales eran de completitud del conjunto. La lista preguntaba por la corrección de cada elemento, no por si el conjunto estaba completo.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99008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90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Rizzo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13258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527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tablero al cerrar cada RFC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198424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ya se actualiza el CHANGELOG. La desincronización no fue un descuido: fue la ausencia de un paso en el procedimiento.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99008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990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Alcívar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4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mensajes de commit con intención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36168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de los 84 commits del repositorio de la Unidad IV usaban el mensaje por defecto: documentan qué archivo cambió, no por qué.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36752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675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· Alcívar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37033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904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norma antes de citarla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4361688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declaró cobertura de las nueve características de ISO 25010 empleando una subcaracterística como si fuera de primer nivel.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536752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53675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Rizzo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 mejora tiene responsable nominal, no queda como propósito colectivo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99616"/>
            <a:ext cx="420624" cy="420624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996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8448" y="13898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ERS no es mejor que hace cinco semanas: es medible. Antes de esta unidad no existía un instrumento capaz de decir si lo era.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59736"/>
            <a:ext cx="420624" cy="420624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597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trazabilidad obligó a construir. M4 no podía calcularse sin diagramas de flujo de datos, de modo que medir produjo el modelo que faltaba.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420624" cy="420624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198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33101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de IA se especifican como cualquier otro. Umbral, método de verificación y criterio de aceptación: la novedad del componente no exime de cuantificar.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420624" cy="420624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79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42702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gobernanza del alcance se demuestra aprobando lo que empeora un indicador. RFC-03 bajó la cobertura del MVP y se aprobó porque cerraba un deber legal.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340096"/>
            <a:ext cx="420624" cy="420624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340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5230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documental no es una propiedad del documento sino del proceso que lo produce. Los siete defectos residuales se concentran donde la lista de verificación no preguntaba.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cada cosa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247120" y="411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respuesta de esta defensa se ancla en uno de estos artefactos, todos en el repositorio.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922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8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01_ERS/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17922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v1.1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57800" y="179222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páginas · 42 RF · 19 RNF · 18 requisitos de IA · 14 figuras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EEF3F0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42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8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02_Auditoria/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34640" y="2542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 y Anexo 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254203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métricas con fórmulas vivas · 33 defectos de la inspección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8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03_CCB/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34640" y="3291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y tres RFC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57800" y="32918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del Change Control Board con su justificación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EEF3F0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41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8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04_Trazabilidad/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34640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y backlog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404164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filas al 100 % · exportación de 175 elementos del tablero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26864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914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8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05_Informe/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34640" y="47914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57800" y="479145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páginas · fuentes LaTeX que reproducen este PDF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76672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EEF3F0"/>
          </a:solidFill>
          <a:ln w="12700">
            <a:solidFill>
              <a:srgbClr val="DFE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541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8C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06_Defensa/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34640" y="5541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57800" y="554126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diapositivas y el guion de reparto por bloques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github.com/erizzov-boop/ISR401-PFC-ERS-AHMRV · el PDF se regenera clonando y compilando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D68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AHMRV · SIMPA · ISR-401 · UTEQ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github.com/erizzov-boop/ISR401-PFC-ERS-AHMRV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2026-08-22T00:34:02Z</dcterms:created>
  <dcterms:modified xsi:type="dcterms:W3CDTF">2026-08-22T00:34:02Z</dcterms:modified>
</cp:coreProperties>
</file>